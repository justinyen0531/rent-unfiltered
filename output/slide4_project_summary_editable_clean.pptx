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B25DB-2A16-9DA8-2F5A-D4F18D79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7241A5-4758-86E5-D6FE-14AA47713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6121F9-CF6B-A513-823A-614A0020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AA0738-F913-688D-7F6A-6C0F0420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2FA57D-6C69-D668-6332-76A8B1B3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46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34C5D-53EF-77B3-350B-ADAD2682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002612-2B30-E3B1-CB91-02E49A14E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0E0A24-11CB-4BD7-2970-48808F0AE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35CB97-5065-2AD0-4BBD-DEC8BB8E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8A5307-5391-378A-2953-DB144C07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31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8ADF51-8579-75B3-CB89-F594D1CCB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336005-7061-A185-37F6-511B576B2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510228-EEB1-03D1-1597-86710A65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B8D071-8648-F867-7335-63F07EE6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0C8B2F-F548-521C-CC75-6065141F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146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8F73DA-DCA8-3353-5D25-6F3249C5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9609CD-1FE5-BEED-7FB7-B7C963BD3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2C5B6C-0129-C97B-7077-372628C5B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C74816-6C49-3AE3-DE1A-6C4964C8B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945CCE-EA58-5170-F204-D391C293C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71F20C-7B4A-B971-E0B5-42D9877A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933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3511E9-9D76-C2B7-3D69-8BC5D381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3AECE9-4C8D-055B-37B3-0200B94D4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91E6A5-AA5E-7BDC-33AD-6C01653EF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1DAF65E-C742-C646-050B-8FB420732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07879DF-6430-79F2-B93C-EBEF8830B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252516A-2DD3-93D5-68C6-7E1B82FD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18A163C-D8B9-E895-30C1-DC0E004D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694E3AA-E659-0B23-E197-6F483C81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202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ACDFEC-3A34-58FA-33F6-E08CA115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78FD8CE-AE23-E4CC-AB2E-391C52A8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23EA426-9F38-DA37-81E5-CE1ACF58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232420-7010-FC11-2643-DDE18335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423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EF202C6-B8ED-06CE-DA0E-EE5B9E33D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B34C694-8E42-B2CE-40B3-BE3C06026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5BE286-EA4A-3056-E4E7-E6F6D990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830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5EA8A-A113-0A41-1543-7CC414FC1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231BA6-45AD-B6F2-BB26-8A8DA5772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49A5814-F41D-54E1-345A-C0BFFE1F6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7FF58E8-0D89-AB49-388C-5582E6513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247238-131E-EE1F-F44D-DB494A62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0F2DB82-4700-EE98-B4E8-FDCB049F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17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572160-D0C5-17FA-1B9D-7E3AEBDE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3150ABA-F97D-5A1A-8C17-6B62E4EFD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BA521E-973F-F34F-9A5F-1D868AF6A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08D5D92-38CF-E5E5-B777-E4FB3D91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FD03A3-F94C-9589-E6BA-3503F7DB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8469C6B-80DC-F466-6A3A-3B0F93CA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D778D-4543-3F8D-51C5-79B1CB8C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6E5572-4BA4-8E06-4728-5D6C5ED09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915D11-6624-0EA0-2D54-F66ECBC91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1C81AD-D96B-EDF7-7952-AEA878C0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39127C-1514-F617-D057-D94736FDF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5637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1CF4506-B1B7-5CCE-46EF-BCDB3CB41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FBD745C-132B-4CA0-A8D0-17C4833E1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E8DE1C-EE86-EC07-C72C-720346A6B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A5BC04-A397-AF44-A0C1-D1DC6A5E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E2A595-44F9-8932-ECC3-B864746E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8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2C0D9C3-634A-BC11-2259-303151DD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639001-5766-0733-68D2-134B9CD93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9F6D27-97E0-68E6-80E1-5086EBBBB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921E1-A860-4EE2-9037-32DE31B4F3C3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4B6EFA-87F9-EA77-A018-70887C9A9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91A21-1A03-ACB6-3BAD-AFCC7EA63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2964D-3302-46CC-895D-A70EB5067B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65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77A0B2-3C11-2A5B-DA14-86ABB0812B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9BE5E5-0EEC-FC22-2B9D-03CB6E2238CF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E4F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DC8627-6696-9025-55CD-D70DA576748C}"/>
              </a:ext>
            </a:extLst>
          </p:cNvPr>
          <p:cNvSpPr/>
          <p:nvPr/>
        </p:nvSpPr>
        <p:spPr>
          <a:xfrm>
            <a:off x="0" y="6197600"/>
            <a:ext cx="12192000" cy="660400"/>
          </a:xfrm>
          <a:prstGeom prst="rect">
            <a:avLst/>
          </a:prstGeom>
          <a:solidFill>
            <a:srgbClr val="D6E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A40F93-DF2D-F8C8-819D-F0916F479519}"/>
              </a:ext>
            </a:extLst>
          </p:cNvPr>
          <p:cNvSpPr/>
          <p:nvPr/>
        </p:nvSpPr>
        <p:spPr>
          <a:xfrm>
            <a:off x="279400" y="1092200"/>
            <a:ext cx="914400" cy="4572000"/>
          </a:xfrm>
          <a:prstGeom prst="rect">
            <a:avLst/>
          </a:prstGeom>
          <a:solidFill>
            <a:srgbClr val="377ED5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7F1F6-9C61-0478-A2B0-0C42F1022389}"/>
              </a:ext>
            </a:extLst>
          </p:cNvPr>
          <p:cNvSpPr/>
          <p:nvPr/>
        </p:nvSpPr>
        <p:spPr>
          <a:xfrm>
            <a:off x="10998200" y="1092200"/>
            <a:ext cx="914400" cy="4572000"/>
          </a:xfrm>
          <a:prstGeom prst="rect">
            <a:avLst/>
          </a:prstGeom>
          <a:solidFill>
            <a:srgbClr val="377ED5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F66B5BE-D790-5122-E6CA-87C579AA1A6A}"/>
              </a:ext>
            </a:extLst>
          </p:cNvPr>
          <p:cNvSpPr txBox="1"/>
          <p:nvPr/>
        </p:nvSpPr>
        <p:spPr>
          <a:xfrm>
            <a:off x="0" y="279400"/>
            <a:ext cx="1219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TW" altLang="en-US" sz="3100" b="1">
                <a:solidFill>
                  <a:srgbClr val="021F57"/>
                </a:solidFill>
                <a:latin typeface="Microsoft JhengHei" panose="020B0604030504040204" pitchFamily="34" charset="-120"/>
              </a:rPr>
              <a:t>專案摘要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2795CE2-4307-FB76-0A3C-C25DC8E5DD7B}"/>
              </a:ext>
            </a:extLst>
          </p:cNvPr>
          <p:cNvSpPr/>
          <p:nvPr/>
        </p:nvSpPr>
        <p:spPr>
          <a:xfrm>
            <a:off x="1549400" y="1219200"/>
            <a:ext cx="9093200" cy="10922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5240">
            <a:solidFill>
              <a:srgbClr val="A3C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2BEFF20-A32A-2D4E-9D13-61FE2C2733BB}"/>
              </a:ext>
            </a:extLst>
          </p:cNvPr>
          <p:cNvSpPr txBox="1"/>
          <p:nvPr/>
        </p:nvSpPr>
        <p:spPr>
          <a:xfrm>
            <a:off x="1905000" y="14224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420">
                <a:solidFill>
                  <a:srgbClr val="133F6F"/>
                </a:solidFill>
                <a:latin typeface="Microsoft JhengHei" panose="020B0604030504040204" pitchFamily="34" charset="-120"/>
              </a:rPr>
              <a:t>Rent Unfiltered </a:t>
            </a:r>
            <a:r>
              <a:rPr lang="zh-TW" altLang="en-US" sz="1420">
                <a:solidFill>
                  <a:srgbClr val="133F6F"/>
                </a:solidFill>
                <a:latin typeface="Microsoft JhengHei" panose="020B0604030504040204" pitchFamily="34" charset="-120"/>
              </a:rPr>
              <a:t>透明租屋是一個面向學生、新鮮人與第一次租屋者的 </a:t>
            </a:r>
            <a:r>
              <a:rPr lang="en-US" altLang="zh-TW" sz="1420">
                <a:solidFill>
                  <a:srgbClr val="133F6F"/>
                </a:solidFill>
                <a:latin typeface="Microsoft JhengHei" panose="020B0604030504040204" pitchFamily="34" charset="-120"/>
              </a:rPr>
              <a:t>AI </a:t>
            </a:r>
            <a:r>
              <a:rPr lang="zh-TW" altLang="en-US" sz="1420">
                <a:solidFill>
                  <a:srgbClr val="133F6F"/>
                </a:solidFill>
                <a:latin typeface="Microsoft JhengHei" panose="020B0604030504040204" pitchFamily="34" charset="-120"/>
              </a:rPr>
              <a:t>租屋風險判讀工具。本專案並不是另一個租屋刊登平台，也不是主觀評論平台，而是希望透過 </a:t>
            </a:r>
            <a:r>
              <a:rPr lang="en-US" altLang="zh-TW" sz="1420">
                <a:solidFill>
                  <a:srgbClr val="133F6F"/>
                </a:solidFill>
                <a:latin typeface="Microsoft JhengHei" panose="020B0604030504040204" pitchFamily="34" charset="-120"/>
              </a:rPr>
              <a:t>AI</a:t>
            </a:r>
            <a:r>
              <a:rPr lang="zh-TW" altLang="en-US" sz="1420">
                <a:solidFill>
                  <a:srgbClr val="133F6F"/>
                </a:solidFill>
                <a:latin typeface="Microsoft JhengHei" panose="020B0604030504040204" pitchFamily="34" charset="-120"/>
              </a:rPr>
              <a:t>、風險指標與結構化資料格式，協助使用者在租屋決策前看懂物件資訊背後的契約、費用、居住安全與租客權益風險。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1E5C464-FDF7-F643-244B-F363EBEB5EE5}"/>
              </a:ext>
            </a:extLst>
          </p:cNvPr>
          <p:cNvSpPr/>
          <p:nvPr/>
        </p:nvSpPr>
        <p:spPr>
          <a:xfrm>
            <a:off x="1549400" y="2603500"/>
            <a:ext cx="9093200" cy="1422400"/>
          </a:xfrm>
          <a:prstGeom prst="roundRect">
            <a:avLst/>
          </a:prstGeom>
          <a:solidFill>
            <a:srgbClr val="F5FBFF"/>
          </a:solidFill>
          <a:ln w="15240">
            <a:solidFill>
              <a:srgbClr val="A3C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8CEEFD9-6F20-CA11-F4F6-078E0EB80A37}"/>
              </a:ext>
            </a:extLst>
          </p:cNvPr>
          <p:cNvSpPr txBox="1"/>
          <p:nvPr/>
        </p:nvSpPr>
        <p:spPr>
          <a:xfrm>
            <a:off x="1905000" y="28448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270">
                <a:solidFill>
                  <a:srgbClr val="123965"/>
                </a:solidFill>
                <a:latin typeface="Microsoft JhengHei" panose="020B0604030504040204" pitchFamily="34" charset="-120"/>
              </a:rPr>
              <a:t>在現有租屋市場中，租屋資訊常常分散在平台刊登頁、房東或仲介訊息、租約文字、截圖、社群貼文與口頭說明之中。對缺乏經驗的租客而言，真正重要的資訊不一定被清楚揭露，例如水電費計算方式、修繕責任、押金退還規則、提前解約條款、是否可報稅、是否可遷戶籍、是否存在違法隔間或消防安全疑慮等。使用者往往只能靠經驗、運氣或他人提醒來判斷風險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D95102E-E204-0FE7-755C-61EAE9904539}"/>
              </a:ext>
            </a:extLst>
          </p:cNvPr>
          <p:cNvSpPr/>
          <p:nvPr/>
        </p:nvSpPr>
        <p:spPr>
          <a:xfrm>
            <a:off x="1549400" y="4254500"/>
            <a:ext cx="9093200" cy="1168400"/>
          </a:xfrm>
          <a:prstGeom prst="roundRect">
            <a:avLst/>
          </a:prstGeom>
          <a:solidFill>
            <a:srgbClr val="2174D2"/>
          </a:solidFill>
          <a:ln w="15240">
            <a:solidFill>
              <a:srgbClr val="A3C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1AE4CB6-5442-F960-8B20-074F6E42500E}"/>
              </a:ext>
            </a:extLst>
          </p:cNvPr>
          <p:cNvSpPr txBox="1"/>
          <p:nvPr/>
        </p:nvSpPr>
        <p:spPr>
          <a:xfrm>
            <a:off x="1905000" y="44450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220">
                <a:solidFill>
                  <a:srgbClr val="FFFFFF"/>
                </a:solidFill>
                <a:latin typeface="Microsoft JhengHei" panose="020B0604030504040204" pitchFamily="34" charset="-120"/>
              </a:rPr>
              <a:t>本專案希望把原本模糊、分散、難以比較的租屋資訊，轉換成可閱讀、可比較、可追溯、可解釋的租屋風險報告。系統透過 </a:t>
            </a:r>
            <a:r>
              <a:rPr lang="en-US" altLang="zh-TW" sz="1220">
                <a:solidFill>
                  <a:srgbClr val="FFFFFF"/>
                </a:solidFill>
                <a:latin typeface="Microsoft JhengHei" panose="020B0604030504040204" pitchFamily="34" charset="-120"/>
              </a:rPr>
              <a:t>RHIR</a:t>
            </a:r>
            <a:r>
              <a:rPr lang="zh-TW" altLang="en-US" sz="1220">
                <a:solidFill>
                  <a:srgbClr val="FFFFFF"/>
                </a:solidFill>
                <a:latin typeface="Microsoft JhengHei" panose="020B0604030504040204" pitchFamily="34" charset="-120"/>
              </a:rPr>
              <a:t>（</a:t>
            </a:r>
            <a:r>
              <a:rPr lang="en-US" altLang="zh-TW" sz="1220">
                <a:solidFill>
                  <a:srgbClr val="FFFFFF"/>
                </a:solidFill>
                <a:latin typeface="Microsoft JhengHei" panose="020B0604030504040204" pitchFamily="34" charset="-120"/>
              </a:rPr>
              <a:t>Rental Housing Interoperability Resources</a:t>
            </a:r>
            <a:r>
              <a:rPr lang="zh-TW" altLang="en-US" sz="1220">
                <a:solidFill>
                  <a:srgbClr val="FFFFFF"/>
                </a:solidFill>
                <a:latin typeface="Microsoft JhengHei" panose="020B0604030504040204" pitchFamily="34" charset="-120"/>
              </a:rPr>
              <a:t>，租屋資訊交換格式）整理租屋資料，再透過 </a:t>
            </a:r>
            <a:r>
              <a:rPr lang="en-US" altLang="zh-TW" sz="1220">
                <a:solidFill>
                  <a:srgbClr val="FFFFFF"/>
                </a:solidFill>
                <a:latin typeface="Microsoft JhengHei" panose="020B0604030504040204" pitchFamily="34" charset="-120"/>
              </a:rPr>
              <a:t>RRI</a:t>
            </a:r>
            <a:r>
              <a:rPr lang="zh-TW" altLang="en-US" sz="1220">
                <a:solidFill>
                  <a:srgbClr val="FFFFFF"/>
                </a:solidFill>
                <a:latin typeface="Microsoft JhengHei" panose="020B0604030504040204" pitchFamily="34" charset="-120"/>
              </a:rPr>
              <a:t>（</a:t>
            </a:r>
            <a:r>
              <a:rPr lang="en-US" altLang="zh-TW" sz="1220">
                <a:solidFill>
                  <a:srgbClr val="FFFFFF"/>
                </a:solidFill>
                <a:latin typeface="Microsoft JhengHei" panose="020B0604030504040204" pitchFamily="34" charset="-120"/>
              </a:rPr>
              <a:t>Rental Risk Index</a:t>
            </a:r>
            <a:r>
              <a:rPr lang="zh-TW" altLang="en-US" sz="1220">
                <a:solidFill>
                  <a:srgbClr val="FFFFFF"/>
                </a:solidFill>
                <a:latin typeface="Microsoft JhengHei" panose="020B0604030504040204" pitchFamily="34" charset="-120"/>
              </a:rPr>
              <a:t>，租屋風險指數）呈現不同面向的風險狀態，最後以 </a:t>
            </a:r>
            <a:r>
              <a:rPr lang="en-US" altLang="zh-TW" sz="1220">
                <a:solidFill>
                  <a:srgbClr val="FFFFFF"/>
                </a:solidFill>
                <a:latin typeface="Microsoft JhengHei" panose="020B0604030504040204" pitchFamily="34" charset="-120"/>
              </a:rPr>
              <a:t>AI </a:t>
            </a:r>
            <a:r>
              <a:rPr lang="zh-TW" altLang="en-US" sz="1220">
                <a:solidFill>
                  <a:srgbClr val="FFFFFF"/>
                </a:solidFill>
                <a:latin typeface="Microsoft JhengHei" panose="020B0604030504040204" pitchFamily="34" charset="-120"/>
              </a:rPr>
              <a:t>輔助說明與待追問清單，協助使用者知道下一步應該確認什麼。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45C2F0C-8BE0-1F3B-9CF0-A0889A5F154F}"/>
              </a:ext>
            </a:extLst>
          </p:cNvPr>
          <p:cNvSpPr/>
          <p:nvPr/>
        </p:nvSpPr>
        <p:spPr>
          <a:xfrm>
            <a:off x="1549400" y="5740400"/>
            <a:ext cx="9093200" cy="685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5240">
            <a:solidFill>
              <a:srgbClr val="A3C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2A4F93B-B0C8-F18A-6A43-4841566FFC25}"/>
              </a:ext>
            </a:extLst>
          </p:cNvPr>
          <p:cNvSpPr txBox="1"/>
          <p:nvPr/>
        </p:nvSpPr>
        <p:spPr>
          <a:xfrm>
            <a:off x="1905000" y="59182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240">
                <a:solidFill>
                  <a:srgbClr val="133F6F"/>
                </a:solidFill>
                <a:latin typeface="Microsoft JhengHei" panose="020B0604030504040204" pitchFamily="34" charset="-120"/>
              </a:rPr>
              <a:t>Rent Unfiltered </a:t>
            </a:r>
            <a:r>
              <a:rPr lang="zh-TW" altLang="en-US" sz="1240">
                <a:solidFill>
                  <a:srgbClr val="133F6F"/>
                </a:solidFill>
                <a:latin typeface="Microsoft JhengHei" panose="020B0604030504040204" pitchFamily="34" charset="-120"/>
              </a:rPr>
              <a:t>透明租屋的核心價值，不是替使用者做最後決定，而是讓使用者在簽約前更早看見問題。它希望讓租屋不再只靠價格、照片、話術與曝光，而是讓資訊品質與風險透明度也能成為租屋市場中的重要判斷依據。</a:t>
            </a:r>
          </a:p>
        </p:txBody>
      </p:sp>
    </p:spTree>
    <p:extLst>
      <p:ext uri="{BB962C8B-B14F-4D97-AF65-F5344CB8AC3E}">
        <p14:creationId xmlns:p14="http://schemas.microsoft.com/office/powerpoint/2010/main" val="4247244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自訂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Microsoft JhengHei</vt:lpstr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星澄 閻</dc:creator>
  <cp:lastModifiedBy>星澄 閻</cp:lastModifiedBy>
  <cp:revision>1</cp:revision>
  <dcterms:created xsi:type="dcterms:W3CDTF">2026-05-25T13:02:34Z</dcterms:created>
  <dcterms:modified xsi:type="dcterms:W3CDTF">2026-05-25T13:02:34Z</dcterms:modified>
</cp:coreProperties>
</file>