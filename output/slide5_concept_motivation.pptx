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A1493D-B92E-2D0E-0977-949849A178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54EB312-EC8A-68BC-FE2A-49626C7C24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E83AC03-2790-4EE8-4259-D7FA08A14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DF13DB9-3BEC-63A4-86DD-CFA443548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A9E24FC-D34B-2188-3357-74EB149F0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274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C62397-8B44-F46D-2490-034226C3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8A86B2D-7A04-EA2F-D398-F8883A8D2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BA60053-D830-436B-2CCB-D943C01B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49DF000-D30C-A4A9-953B-5C85F35EA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EA1B80E-0C01-F546-821E-6D9E178FF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72766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60612D-28B5-AC15-961F-FF79384A8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FBCA05C-4E5B-D111-D5AC-C17434293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037DA1B-6D78-7F82-7BB1-D76D153A9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0B4B08-ABA1-86C1-72DA-D02087D35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8D03CC3-CCA0-D14A-1A5A-CD16FA17B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8273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81BB6A-9CDA-23F5-5D73-A3AA6EC7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6DEF31-6249-1942-70D2-0FC6AD95BD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A0F35F2-5449-0032-4A92-AAC6B623E0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D3B9D6F-04F2-59C3-BD21-CEE13FA1F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043447C-0CA5-08B6-CD10-5B5E976AE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21FB263-168E-5F3B-1E32-FC5D28966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8796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8FBAC-7D91-D504-7E53-C861C8B47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3273046-15DD-6E36-9AAC-86E9A34259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A77A06A-81E0-7F52-5FA0-BAAE04C00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788E71FD-E00B-BD4C-33E3-CE413FD4F7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68DE803-AB72-BF0F-8A4F-5133083618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8FC9C49-FC0E-ED2C-7137-E5B0A3688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5E9B56D-C337-670F-3175-E1C0EBB51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150FF4F-15C3-B5D5-0F8F-FABA2BF8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6950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D860E2-1BBD-ECDB-D169-5D98FA1DA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9604929-A558-977A-5B21-7B63934AC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997CF39-9B32-BB5D-6BA4-0087C3DD7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40787D4-8072-638E-28FF-FE4579E0B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1746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E63513D-C964-373C-390D-A208A9FE5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CFE08A0-4AA3-2B39-CD4D-EFD316D64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927F3D1-1F01-FDD4-E380-FAFA8026D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0487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158D89-E08F-6B06-E191-CEAB3D4F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348D51-4451-1204-3AD5-CCC108A78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90983C4-3456-8963-954E-0D6ABF02B8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7E3F663-8242-4D2D-59DD-4258439AE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FBB0AB1-D21B-9FBF-A2BD-29ED1DF9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8674E0-0F9E-6BBB-7886-D66B94825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4518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67C660-FB7B-C40E-10F5-3D5416DB6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2F67681E-4632-7CA7-7608-364A5A4BE7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8C3EE6F-C988-79AD-CE92-DCBDFF67A0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8760E80-77BD-30EF-D5D7-A7ACC6AFE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62DFAA9-6596-F575-6E15-7E82A3C98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BD5B6A0-26FF-E7FA-F0DB-67A12177C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554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8E9E27-5460-9E48-3D81-65832C669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364CA76-80DA-3E62-F174-42F71CB93C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4BCFEC1-F5F2-8B4D-A04E-7BC463AF3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1A46EF5-FE26-84A6-A86F-B02662549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6D1BB5-DB00-66F9-EB2B-D8DF27388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2154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4118182-C7F2-4402-E639-AFBCF89AB3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04005CD-05FD-9CE7-10C1-4FDA6D3C77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9B2123A-1FA5-E170-25F9-9F982F605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7F6B923-5A2B-4029-1DB4-B52652779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C56838D-6B73-DB7D-DF2A-4944D0DFB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5126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50BA9B79-77A5-D635-E002-D184921D6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64C679-72FA-AA71-7BA3-1477FBECF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D8B8C7-FB1F-D4FF-46B8-D9CEAFDF6E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A4FC28-A91B-426C-8314-47BE114A8C69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08C70DF-4924-170F-B9FC-5F3FE920E8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0F6145-F799-B0B2-F623-3E67080BD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37152-1061-4887-A133-42AB91A9FA6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8249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36AF1912-51A6-D43C-A788-85E0F5AED5E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21BC3223-6E17-208E-6DE7-4C2DA5E1B5B1}"/>
              </a:ext>
            </a:extLst>
          </p:cNvPr>
          <p:cNvSpPr/>
          <p:nvPr/>
        </p:nvSpPr>
        <p:spPr>
          <a:xfrm>
            <a:off x="977900" y="2133600"/>
            <a:ext cx="3886200" cy="2463800"/>
          </a:xfrm>
          <a:prstGeom prst="roundRect">
            <a:avLst/>
          </a:prstGeom>
          <a:solidFill>
            <a:srgbClr val="FFFFFF">
              <a:alpha val="82000"/>
            </a:srgbClr>
          </a:solidFill>
          <a:ln w="13970" cap="flat" cmpd="sng" algn="ctr">
            <a:solidFill>
              <a:srgbClr val="84B5EB">
                <a:alpha val="9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66C5E7C-6B95-44E5-0688-43B3777300BB}"/>
              </a:ext>
            </a:extLst>
          </p:cNvPr>
          <p:cNvSpPr txBox="1"/>
          <p:nvPr/>
        </p:nvSpPr>
        <p:spPr>
          <a:xfrm>
            <a:off x="1308100" y="2374900"/>
            <a:ext cx="3225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TW" altLang="en-US" sz="1320">
                <a:solidFill>
                  <a:srgbClr val="103B6E"/>
                </a:solidFill>
                <a:latin typeface="Microsoft JhengHei" panose="020B0604030504040204" pitchFamily="34" charset="-120"/>
              </a:rPr>
              <a:t>不是再做一個租屋刊登平台，
而是建立租客看得懂的資訊透明基礎。
</a:t>
            </a:r>
            <a:r>
              <a:rPr lang="en-US" altLang="zh-TW" sz="1320">
                <a:solidFill>
                  <a:srgbClr val="103B6E"/>
                </a:solidFill>
                <a:latin typeface="Microsoft JhengHei" panose="020B0604030504040204" pitchFamily="34" charset="-120"/>
              </a:rPr>
              <a:t>• </a:t>
            </a:r>
            <a:r>
              <a:rPr lang="zh-TW" altLang="en-US" sz="1320">
                <a:solidFill>
                  <a:srgbClr val="103B6E"/>
                </a:solidFill>
                <a:latin typeface="Microsoft JhengHei" panose="020B0604030504040204" pitchFamily="34" charset="-120"/>
              </a:rPr>
              <a:t>把零散條款整理成清楚格式
</a:t>
            </a:r>
            <a:r>
              <a:rPr lang="en-US" altLang="zh-TW" sz="1320">
                <a:solidFill>
                  <a:srgbClr val="103B6E"/>
                </a:solidFill>
                <a:latin typeface="Microsoft JhengHei" panose="020B0604030504040204" pitchFamily="34" charset="-120"/>
              </a:rPr>
              <a:t>• </a:t>
            </a:r>
            <a:r>
              <a:rPr lang="zh-TW" altLang="en-US" sz="1320">
                <a:solidFill>
                  <a:srgbClr val="103B6E"/>
                </a:solidFill>
                <a:latin typeface="Microsoft JhengHei" panose="020B0604030504040204" pitchFamily="34" charset="-120"/>
              </a:rPr>
              <a:t>讓契約、費用、安全、權益可比較
</a:t>
            </a:r>
            <a:r>
              <a:rPr lang="en-US" altLang="zh-TW" sz="1320">
                <a:solidFill>
                  <a:srgbClr val="103B6E"/>
                </a:solidFill>
                <a:latin typeface="Microsoft JhengHei" panose="020B0604030504040204" pitchFamily="34" charset="-120"/>
              </a:rPr>
              <a:t>• </a:t>
            </a:r>
            <a:r>
              <a:rPr lang="zh-TW" altLang="en-US" sz="1320">
                <a:solidFill>
                  <a:srgbClr val="103B6E"/>
                </a:solidFill>
                <a:latin typeface="Microsoft JhengHei" panose="020B0604030504040204" pitchFamily="34" charset="-120"/>
              </a:rPr>
              <a:t>讓透明的出租方也能被看見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1D58A16-8F1A-2B3F-6E85-D65DBD9CFE03}"/>
              </a:ext>
            </a:extLst>
          </p:cNvPr>
          <p:cNvSpPr/>
          <p:nvPr/>
        </p:nvSpPr>
        <p:spPr>
          <a:xfrm>
            <a:off x="7467600" y="2133600"/>
            <a:ext cx="3886200" cy="2463800"/>
          </a:xfrm>
          <a:prstGeom prst="roundRect">
            <a:avLst/>
          </a:prstGeom>
          <a:solidFill>
            <a:srgbClr val="FFFFFF">
              <a:alpha val="82000"/>
            </a:srgbClr>
          </a:solidFill>
          <a:ln w="13970" cap="flat" cmpd="sng" algn="ctr">
            <a:solidFill>
              <a:srgbClr val="84B5EB">
                <a:alpha val="9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FC31ED3-4FEA-CCB2-71F8-AE03EAC659EA}"/>
              </a:ext>
            </a:extLst>
          </p:cNvPr>
          <p:cNvSpPr txBox="1"/>
          <p:nvPr/>
        </p:nvSpPr>
        <p:spPr>
          <a:xfrm>
            <a:off x="7797800" y="2374900"/>
            <a:ext cx="3225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TW" altLang="en-US" sz="1320">
                <a:solidFill>
                  <a:srgbClr val="103B6E"/>
                </a:solidFill>
                <a:latin typeface="Microsoft JhengHei" panose="020B0604030504040204" pitchFamily="34" charset="-120"/>
              </a:rPr>
              <a:t>租屋風險不是少數人的問題，
而是學生、新鮮人與短期租客常見的共同處境。
</a:t>
            </a:r>
            <a:r>
              <a:rPr lang="en-US" altLang="zh-TW" sz="1320">
                <a:solidFill>
                  <a:srgbClr val="103B6E"/>
                </a:solidFill>
                <a:latin typeface="Microsoft JhengHei" panose="020B0604030504040204" pitchFamily="34" charset="-120"/>
              </a:rPr>
              <a:t>• </a:t>
            </a:r>
            <a:r>
              <a:rPr lang="zh-TW" altLang="en-US" sz="1320">
                <a:solidFill>
                  <a:srgbClr val="103B6E"/>
                </a:solidFill>
                <a:latin typeface="Microsoft JhengHei" panose="020B0604030504040204" pitchFamily="34" charset="-120"/>
              </a:rPr>
              <a:t>查核時間少、經驗不足
</a:t>
            </a:r>
            <a:r>
              <a:rPr lang="en-US" altLang="zh-TW" sz="1320">
                <a:solidFill>
                  <a:srgbClr val="103B6E"/>
                </a:solidFill>
                <a:latin typeface="Microsoft JhengHei" panose="020B0604030504040204" pitchFamily="34" charset="-120"/>
              </a:rPr>
              <a:t>• </a:t>
            </a:r>
            <a:r>
              <a:rPr lang="zh-TW" altLang="en-US" sz="1320">
                <a:solidFill>
                  <a:srgbClr val="103B6E"/>
                </a:solidFill>
                <a:latin typeface="Microsoft JhengHei" panose="020B0604030504040204" pitchFamily="34" charset="-120"/>
              </a:rPr>
              <a:t>資訊取得成本高
</a:t>
            </a:r>
            <a:r>
              <a:rPr lang="en-US" altLang="zh-TW" sz="1320">
                <a:solidFill>
                  <a:srgbClr val="103B6E"/>
                </a:solidFill>
                <a:latin typeface="Microsoft JhengHei" panose="020B0604030504040204" pitchFamily="34" charset="-120"/>
              </a:rPr>
              <a:t>• </a:t>
            </a:r>
            <a:r>
              <a:rPr lang="zh-TW" altLang="en-US" sz="1320">
                <a:solidFill>
                  <a:srgbClr val="103B6E"/>
                </a:solidFill>
                <a:latin typeface="Microsoft JhengHei" panose="020B0604030504040204" pitchFamily="34" charset="-120"/>
              </a:rPr>
              <a:t>簽約前最需要看見隱藏風險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A81864E-D5CC-F5F9-7686-4A26CDBDBBCC}"/>
              </a:ext>
            </a:extLst>
          </p:cNvPr>
          <p:cNvSpPr/>
          <p:nvPr/>
        </p:nvSpPr>
        <p:spPr>
          <a:xfrm>
            <a:off x="4978400" y="2387600"/>
            <a:ext cx="2260600" cy="1193800"/>
          </a:xfrm>
          <a:prstGeom prst="roundRect">
            <a:avLst/>
          </a:prstGeom>
          <a:solidFill>
            <a:srgbClr val="FFFFFF">
              <a:alpha val="92000"/>
            </a:srgbClr>
          </a:solidFill>
          <a:ln w="13970" cap="flat" cmpd="sng" algn="ctr">
            <a:solidFill>
              <a:srgbClr val="84B5EB">
                <a:alpha val="92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D3FC790-CFAD-B36B-C313-FF0A383D1E27}"/>
              </a:ext>
            </a:extLst>
          </p:cNvPr>
          <p:cNvSpPr txBox="1"/>
          <p:nvPr/>
        </p:nvSpPr>
        <p:spPr>
          <a:xfrm>
            <a:off x="5207000" y="2540000"/>
            <a:ext cx="1803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TW" sz="1060">
                <a:solidFill>
                  <a:srgbClr val="0E437D"/>
                </a:solidFill>
                <a:latin typeface="Microsoft JhengHei" panose="020B0604030504040204" pitchFamily="34" charset="-120"/>
              </a:rPr>
              <a:t>AI </a:t>
            </a:r>
            <a:r>
              <a:rPr lang="zh-TW" altLang="en-US" sz="1060">
                <a:solidFill>
                  <a:srgbClr val="0E437D"/>
                </a:solidFill>
                <a:latin typeface="Microsoft JhengHei" panose="020B0604030504040204" pitchFamily="34" charset="-120"/>
              </a:rPr>
              <a:t>的角色
</a:t>
            </a:r>
            <a:r>
              <a:rPr lang="en-US" altLang="zh-TW" sz="1060">
                <a:solidFill>
                  <a:srgbClr val="0E437D"/>
                </a:solidFill>
                <a:latin typeface="Microsoft JhengHei" panose="020B0604030504040204" pitchFamily="34" charset="-120"/>
              </a:rPr>
              <a:t>• </a:t>
            </a:r>
            <a:r>
              <a:rPr lang="zh-TW" altLang="en-US" sz="1060">
                <a:solidFill>
                  <a:srgbClr val="0E437D"/>
                </a:solidFill>
                <a:latin typeface="Microsoft JhengHei" panose="020B0604030504040204" pitchFamily="34" charset="-120"/>
              </a:rPr>
              <a:t>整理資訊
</a:t>
            </a:r>
            <a:r>
              <a:rPr lang="en-US" altLang="zh-TW" sz="1060">
                <a:solidFill>
                  <a:srgbClr val="0E437D"/>
                </a:solidFill>
                <a:latin typeface="Microsoft JhengHei" panose="020B0604030504040204" pitchFamily="34" charset="-120"/>
              </a:rPr>
              <a:t>• </a:t>
            </a:r>
            <a:r>
              <a:rPr lang="zh-TW" altLang="en-US" sz="1060">
                <a:solidFill>
                  <a:srgbClr val="0E437D"/>
                </a:solidFill>
                <a:latin typeface="Microsoft JhengHei" panose="020B0604030504040204" pitchFamily="34" charset="-120"/>
              </a:rPr>
              <a:t>揭露風險
</a:t>
            </a:r>
            <a:r>
              <a:rPr lang="en-US" altLang="zh-TW" sz="1060">
                <a:solidFill>
                  <a:srgbClr val="0E437D"/>
                </a:solidFill>
                <a:latin typeface="Microsoft JhengHei" panose="020B0604030504040204" pitchFamily="34" charset="-120"/>
              </a:rPr>
              <a:t>• </a:t>
            </a:r>
            <a:r>
              <a:rPr lang="zh-TW" altLang="en-US" sz="1060">
                <a:solidFill>
                  <a:srgbClr val="0E437D"/>
                </a:solidFill>
                <a:latin typeface="Microsoft JhengHei" panose="020B0604030504040204" pitchFamily="34" charset="-120"/>
              </a:rPr>
              <a:t>降低理解門檻
</a:t>
            </a:r>
            <a:r>
              <a:rPr lang="en-US" altLang="zh-TW" sz="1060">
                <a:solidFill>
                  <a:srgbClr val="0E437D"/>
                </a:solidFill>
                <a:latin typeface="Microsoft JhengHei" panose="020B0604030504040204" pitchFamily="34" charset="-120"/>
              </a:rPr>
              <a:t>• </a:t>
            </a:r>
            <a:r>
              <a:rPr lang="zh-TW" altLang="en-US" sz="1060">
                <a:solidFill>
                  <a:srgbClr val="0E437D"/>
                </a:solidFill>
                <a:latin typeface="Microsoft JhengHei" panose="020B0604030504040204" pitchFamily="34" charset="-120"/>
              </a:rPr>
              <a:t>不替使用者做決定</a:t>
            </a:r>
          </a:p>
        </p:txBody>
      </p:sp>
    </p:spTree>
    <p:extLst>
      <p:ext uri="{BB962C8B-B14F-4D97-AF65-F5344CB8AC3E}">
        <p14:creationId xmlns:p14="http://schemas.microsoft.com/office/powerpoint/2010/main" val="1750114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</Words>
  <Application>Microsoft Office PowerPoint</Application>
  <PresentationFormat>自訂</PresentationFormat>
  <Paragraphs>3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Microsoft JhengHei</vt:lpstr>
      <vt:lpstr>Aptos</vt:lpstr>
      <vt:lpstr>Aptos Display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星澄 閻</dc:creator>
  <cp:lastModifiedBy>星澄 閻</cp:lastModifiedBy>
  <cp:revision>1</cp:revision>
  <dcterms:created xsi:type="dcterms:W3CDTF">2026-05-25T13:25:26Z</dcterms:created>
  <dcterms:modified xsi:type="dcterms:W3CDTF">2026-05-25T13:25:26Z</dcterms:modified>
</cp:coreProperties>
</file>